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13013-8350-4FC4-94D6-1F88E18AB581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20ED1-8CF2-42FE-806E-CACBFEA43D4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78162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CE08-D948-9B44-ECAE-3F6553286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72A76-C8BB-4E56-6016-0C3387DEE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52441-ABC9-D752-F035-F17C8AD28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0CCED-4D65-A754-073E-CC546FED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EE5FA-9204-2FC5-1D13-723E628BC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355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229ED-D783-D694-FDE7-CC463495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6619-C799-4EDF-3CD2-9F66D2D0A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92513-7E2C-63F9-8110-3C55A9C2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299A-55B9-E1D6-5644-04BAE49DC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00105-80E0-3A24-604D-A741E566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0484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B64D-8FD5-82F0-4751-975E9D05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ECC70-9348-2AE8-8650-A13B84B50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F9B23-78C2-C930-2D47-556E5901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43F9-287F-E1D1-ACAF-610A575E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5B911-0150-1D09-054C-B318BCB5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6768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B12D-7422-7598-33F0-3B8AF821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9331C-CFEE-1B73-2E2A-F5B7FA98C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7B154-E7F0-5254-4D0F-63A61BC00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534DF-3E4B-5F5E-416A-EB06FF1F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3C083-22AB-CA38-3D0C-45A5BC91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18108-F739-48BA-B9D5-D0D488B6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856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D82A-4821-9074-7110-B9F3BCCB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F745A-0D16-267E-21E9-BC0C2F18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32D24-CF24-C373-FDDC-7D229A3A2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7D43B-3444-2D5A-49BD-05BF0288B0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24938-0F0E-8F19-BBCB-B446E96BB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0576A6-404A-E7A7-827A-1E212893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C20194-C9E1-1CCE-BF05-2C1FB533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20319-443C-FC8E-1750-59B24C38E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9851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766F-208E-9930-45E5-8B5ECAC3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B2602-1686-7435-8168-6244E844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5B1B7-6956-563D-4124-684146BE8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6F842-FA11-F374-D25B-CAD8689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1906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48924-8650-EC2A-61DB-130381746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8CFBE-0400-7D3E-4F51-7A7E4E23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655E0-BAAE-D4D4-7826-C7F0AF83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1545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4869-9332-EB86-D110-0A26B1DEF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7DC7F-8BE9-A686-5364-C5FC3219A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54CF31-5674-EAD1-73F9-017AEBD73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B4968-4283-FB4F-AC8D-B643AD06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260C4-4F6B-32FC-50E4-ADE6DF03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7972E-395D-2805-38F8-633F8136F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086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DCC4-0957-FA8A-384A-8DE94937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1F185C-CB81-5F6C-AED0-4F47A9F53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31598-72F1-5415-CA12-794410C09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406DD-2867-88BD-5CCE-C93BEFF5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52503-CA3E-B9F4-A20C-DF425E10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3B761-9BE6-B7F8-5C89-54F16201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755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C7F8-3386-E98A-74A9-944C8BCB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2738EE-EEFF-4B17-91EC-CDC4FE3C7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D3252-C305-67AD-EC75-912C7955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7A5B-8C48-0684-0ED3-1698BB82A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B0195-A986-FC39-BF6E-E153A968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24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BDF39-9364-1810-4074-59DE04280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6FA89-E9A8-01FB-836E-E153031AA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DD4E3-30D0-F31C-A585-AF43E8E2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8400F-7CFA-B0F6-215A-9A7AA2EB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4DCE0-B406-5834-5AC5-84F6D036E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9915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Content">
  <p:cSld name="Title Sub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4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4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  <a:defRPr sz="220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595959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4"/>
          <p:cNvSpPr txBox="1">
            <a:spLocks noGrp="1"/>
          </p:cNvSpPr>
          <p:nvPr>
            <p:ph type="body" idx="2"/>
          </p:nvPr>
        </p:nvSpPr>
        <p:spPr>
          <a:xfrm>
            <a:off x="533400" y="1704560"/>
            <a:ext cx="11125200" cy="4769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30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–"/>
              <a:defRPr/>
            </a:lvl3pPr>
            <a:lvl4pPr marL="1828800" lvl="3" indent="-3175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/>
            </a:lvl4pPr>
            <a:lvl5pPr marL="2286000" lvl="4" indent="-3175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/>
            </a:lvl5pPr>
            <a:lvl6pPr marL="2743200" lvl="5" indent="-3175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/>
            </a:lvl6pPr>
            <a:lvl7pPr marL="3200400" lvl="6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7pPr>
            <a:lvl8pPr marL="3657600" lvl="7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8pPr>
            <a:lvl9pPr marL="4114800" lvl="8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>
            <a:endParaRPr/>
          </a:p>
        </p:txBody>
      </p:sp>
      <p:sp>
        <p:nvSpPr>
          <p:cNvPr id="41" name="Google Shape;41;p64"/>
          <p:cNvSpPr txBox="1">
            <a:spLocks noGrp="1"/>
          </p:cNvSpPr>
          <p:nvPr>
            <p:ph type="ftr" idx="11"/>
          </p:nvPr>
        </p:nvSpPr>
        <p:spPr>
          <a:xfrm>
            <a:off x="4046220" y="6525890"/>
            <a:ext cx="409956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244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55379-1030-1014-8E30-C7432A300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8B22F-281D-7978-2F21-6501877E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674E-860A-16B9-A4B5-042CAF0F3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B76DD-0653-4111-90DF-372A3E256B8D}" type="datetimeFigureOut">
              <a:rPr lang="vi-VN" smtClean="0"/>
              <a:t>24/08/2026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4CE06-6347-CC7B-E55E-4766FD28B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EDF27-EA1E-AE9C-0D1C-03F6FE0C2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00FEE-FCC4-45E6-942E-D9C4E8F25DA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8884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E90B-D22F-F3BC-9C35-EDCFF4B7B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91B24-2574-5001-001D-27AC99E10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5652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Process(1/8)</a:t>
            </a:r>
            <a:endParaRPr/>
          </a:p>
        </p:txBody>
      </p:sp>
      <p:sp>
        <p:nvSpPr>
          <p:cNvPr id="277" name="Google Shape;277;p4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4333240" cy="479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 dirty="0"/>
              <a:t>The CMOS process requires a large number of steps.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 dirty="0"/>
              <a:t>We begin with a brief description of basic fabrication steps, such as: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wafer processing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photolithography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oxidation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ion implantation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deposition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dirty="0"/>
              <a:t>etching</a:t>
            </a:r>
            <a:endParaRPr dirty="0"/>
          </a:p>
        </p:txBody>
      </p:sp>
      <p:pic>
        <p:nvPicPr>
          <p:cNvPr id="279" name="Google Shape;279;p4" descr="How A Chip Is Born Poster – LASER-TE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4574" y="1139124"/>
            <a:ext cx="7207426" cy="5302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Process(2/8)</a:t>
            </a:r>
            <a:endParaRPr/>
          </a:p>
        </p:txBody>
      </p:sp>
      <p:sp>
        <p:nvSpPr>
          <p:cNvPr id="285" name="Google Shape;285;p5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Wafer Processing</a:t>
            </a:r>
            <a:endParaRPr/>
          </a:p>
        </p:txBody>
      </p:sp>
      <p:sp>
        <p:nvSpPr>
          <p:cNvPr id="287" name="Google Shape;287;p5"/>
          <p:cNvSpPr txBox="1"/>
          <p:nvPr/>
        </p:nvSpPr>
        <p:spPr>
          <a:xfrm>
            <a:off x="533400" y="2138319"/>
            <a:ext cx="5562600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vi-VN" sz="2000" dirty="0"/>
              <a:t>The silicon is grown by the </a:t>
            </a:r>
            <a:r>
              <a:rPr lang="vi-VN" sz="2000" b="1" dirty="0"/>
              <a:t>Czochralskimethod</a:t>
            </a:r>
            <a:r>
              <a:rPr lang="vi-VN" sz="2000" dirty="0"/>
              <a:t>:</a:t>
            </a:r>
            <a:endParaRPr lang="en-US" sz="2000" dirty="0"/>
          </a:p>
          <a:p>
            <a:pPr lvl="0"/>
            <a:r>
              <a:rPr lang="vi-VN" sz="2000" dirty="0"/>
              <a:t> </a:t>
            </a:r>
            <a:endParaRPr lang="en-US" sz="2000" dirty="0"/>
          </a:p>
          <a:p>
            <a:pPr lvl="0"/>
            <a:r>
              <a:rPr lang="vi-VN" sz="2000" dirty="0"/>
              <a:t>● Starts with a single </a:t>
            </a:r>
            <a:r>
              <a:rPr lang="en-US" sz="2000" dirty="0"/>
              <a:t>S</a:t>
            </a:r>
            <a:r>
              <a:rPr lang="vi-VN" sz="2000" dirty="0"/>
              <a:t>ilicon</a:t>
            </a:r>
            <a:r>
              <a:rPr lang="en-US" sz="2000" dirty="0"/>
              <a:t> </a:t>
            </a:r>
            <a:r>
              <a:rPr lang="vi-VN" sz="2000" dirty="0"/>
              <a:t>seed.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● The seed is immersed in molten silicon and slowly rotated and pulled.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● The result is an ingot of single-crystal silicon with few defects. The ingot is sliced into thin wafers that form the starting point for IC fabrication:</a:t>
            </a:r>
            <a:endParaRPr sz="2000" dirty="0"/>
          </a:p>
        </p:txBody>
      </p:sp>
      <p:pic>
        <p:nvPicPr>
          <p:cNvPr id="288" name="Google Shape;288;p5"/>
          <p:cNvPicPr preferRelativeResize="0"/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rcRect/>
          <a:stretch/>
        </p:blipFill>
        <p:spPr>
          <a:xfrm>
            <a:off x="6096000" y="1143000"/>
            <a:ext cx="6096000" cy="366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D32774-77DB-2949-B570-96F6B1639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938" y="5284895"/>
            <a:ext cx="5074920" cy="1573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Process(3/8)</a:t>
            </a:r>
            <a:endParaRPr/>
          </a:p>
        </p:txBody>
      </p:sp>
      <p:sp>
        <p:nvSpPr>
          <p:cNvPr id="295" name="Google Shape;295;p6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Photolithography</a:t>
            </a:r>
            <a:br>
              <a:rPr lang="en-US"/>
            </a:b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561340" y="1681568"/>
            <a:ext cx="4864100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lithography of each layer involves one mask and three processing steps: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vi-VN" sz="2000" dirty="0"/>
              <a:t>●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Develop: cover wafer with photoresist and align mask on top and expose to light; 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vi-VN" sz="2000" dirty="0"/>
              <a:t>●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vi-VN" sz="2000" dirty="0"/>
              <a:t>● 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 photoresist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CB124F-CBF4-BFB6-2E06-1BDB3F51EC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" r="-1"/>
          <a:stretch>
            <a:fillRect/>
          </a:stretch>
        </p:blipFill>
        <p:spPr>
          <a:xfrm>
            <a:off x="6096000" y="2957129"/>
            <a:ext cx="4847067" cy="36044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2FFB8-A3A7-7B36-9FE7-2E8F54115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417" y="5762"/>
            <a:ext cx="3054650" cy="258537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5B2005-4379-AC06-A746-65A3BA37BB9B}"/>
              </a:ext>
            </a:extLst>
          </p:cNvPr>
          <p:cNvCxnSpPr/>
          <p:nvPr/>
        </p:nvCxnSpPr>
        <p:spPr>
          <a:xfrm>
            <a:off x="5857875" y="2857500"/>
            <a:ext cx="55721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Process(4/8)</a:t>
            </a:r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Oxidation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533399" y="1969651"/>
            <a:ext cx="6316579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vi-VN" sz="2000" dirty="0"/>
              <a:t>Oxidation is the process by which a layer of silicon dioxide is grown on the surface of a silicon wafer:</a:t>
            </a:r>
            <a:endParaRPr lang="en-US" sz="2000" dirty="0"/>
          </a:p>
          <a:p>
            <a:pPr lvl="0"/>
            <a:r>
              <a:rPr lang="vi-VN" sz="2000" dirty="0"/>
              <a:t> </a:t>
            </a:r>
            <a:endParaRPr lang="en-US" sz="2000" dirty="0"/>
          </a:p>
          <a:p>
            <a:pPr lvl="0"/>
            <a:r>
              <a:rPr lang="vi-VN" sz="2000" dirty="0"/>
              <a:t>● It protects the underlying material from contamination.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● It provides isolation between two layers.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● Its thicknesses can vary between 10Å</a:t>
            </a:r>
            <a:r>
              <a:rPr lang="en-US" sz="2000" dirty="0"/>
              <a:t> </a:t>
            </a:r>
            <a:r>
              <a:rPr lang="vi-VN" sz="2000" dirty="0"/>
              <a:t>to over 1000Å.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●</a:t>
            </a:r>
            <a:r>
              <a:rPr lang="en-US" sz="2000" dirty="0"/>
              <a:t> </a:t>
            </a:r>
            <a:r>
              <a:rPr lang="vi-VN" sz="2000" dirty="0"/>
              <a:t>MOS transistor oxide is the thinnest oxide layer. Field oxide is much thicker.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876121-E61F-4534-5A8F-A70E9867C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47" y="2451569"/>
            <a:ext cx="4521754" cy="22483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Process(5/8)</a:t>
            </a:r>
            <a:endParaRPr/>
          </a:p>
        </p:txBody>
      </p:sp>
      <p:sp>
        <p:nvSpPr>
          <p:cNvPr id="314" name="Google Shape;314;p8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Ion Implantation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533400" y="1849120"/>
            <a:ext cx="5034280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ion implantation, dopants are introduced as ions into the material.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doping atoms are accelerated as a high-energy focused beam, hitting the surface of the wafer and penetrating the exposed areas. 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4025" y="1146068"/>
            <a:ext cx="6247402" cy="2250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8"/>
          <p:cNvSpPr/>
          <p:nvPr/>
        </p:nvSpPr>
        <p:spPr>
          <a:xfrm>
            <a:off x="8443431" y="3431282"/>
            <a:ext cx="527848" cy="45999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2320" y="4142973"/>
            <a:ext cx="5562600" cy="2068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Process(6/8)</a:t>
            </a:r>
            <a:endParaRPr/>
          </a:p>
        </p:txBody>
      </p:sp>
      <p:sp>
        <p:nvSpPr>
          <p:cNvPr id="325" name="Google Shape;325;p9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Deposition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533400" y="2696107"/>
            <a:ext cx="485648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CMOS process requires the repetitive deposition of layers of a material over the complete wafer, to either act as buffers for a processing step, or as insulating or conducting layers (e.g. SiO2 layer).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9" descr="Deposi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4253" y="1685846"/>
            <a:ext cx="6678722" cy="478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CMOS Fabrication Process(7/8)</a:t>
            </a:r>
            <a:endParaRPr/>
          </a:p>
        </p:txBody>
      </p:sp>
      <p:sp>
        <p:nvSpPr>
          <p:cNvPr id="334" name="Google Shape;334;p10"/>
          <p:cNvSpPr txBox="1">
            <a:spLocks noGrp="1"/>
          </p:cNvSpPr>
          <p:nvPr>
            <p:ph type="body" idx="1"/>
          </p:nvPr>
        </p:nvSpPr>
        <p:spPr>
          <a:xfrm>
            <a:off x="533400" y="1143000"/>
            <a:ext cx="111282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rPr lang="en-US"/>
              <a:t>Etching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533400" y="1604631"/>
            <a:ext cx="5562600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Once a material has been deposited, etching is used to selectively form patterns such as wires and contact holes.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Depending on the speed, accuracy, and selectivity required in the etching step, and the type of material to be etched, one of these methods may be used: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Both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“wet” etching, i.e., placing the wafer in a chemical liquid (low precision);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Both"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Both"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“plasma” etching, i.e., bombarding the wafer with a plasma gas (high precision);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10" descr="The etching process for wafer fabrication | Download Scientific Diagram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bg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016836" y="1146094"/>
            <a:ext cx="6175164" cy="506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"/>
          <p:cNvSpPr txBox="1">
            <a:spLocks noGrp="1"/>
          </p:cNvSpPr>
          <p:nvPr>
            <p:ph type="title"/>
          </p:nvPr>
        </p:nvSpPr>
        <p:spPr>
          <a:xfrm>
            <a:off x="533400" y="526477"/>
            <a:ext cx="11125201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dirty="0"/>
              <a:t>Summary: CMOS Fabrication Process</a:t>
            </a:r>
            <a:endParaRPr dirty="0"/>
          </a:p>
        </p:txBody>
      </p:sp>
      <p:sp>
        <p:nvSpPr>
          <p:cNvPr id="345" name="Google Shape;345;p11"/>
          <p:cNvSpPr txBox="1"/>
          <p:nvPr/>
        </p:nvSpPr>
        <p:spPr>
          <a:xfrm>
            <a:off x="383016" y="2021681"/>
            <a:ext cx="6977451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vi-VN" sz="2000" dirty="0"/>
              <a:t>CMOS fabrication steps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▪ Wafer preparation: Preparing the silicon for use.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▪ Photolithography:Transferring the circuit layout to the wafer:</a:t>
            </a:r>
            <a:endParaRPr lang="en-US" sz="2000" dirty="0"/>
          </a:p>
          <a:p>
            <a:pPr lvl="0"/>
            <a:r>
              <a:rPr lang="vi-VN" sz="2000" dirty="0"/>
              <a:t> </a:t>
            </a:r>
            <a:endParaRPr lang="en-US" sz="2000" dirty="0"/>
          </a:p>
          <a:p>
            <a:pPr lvl="0"/>
            <a:r>
              <a:rPr lang="vi-VN" sz="2000" dirty="0"/>
              <a:t>▪ Oxidation: Forming a very uniform oxide layer on the silicon.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▪ Ion implantation: Doping specific parts of the wafer. </a:t>
            </a:r>
            <a:endParaRPr lang="en-US" sz="2000" dirty="0"/>
          </a:p>
          <a:p>
            <a:pPr lvl="0"/>
            <a:endParaRPr lang="en-US" sz="2000" dirty="0"/>
          </a:p>
          <a:p>
            <a:pPr lvl="0"/>
            <a:r>
              <a:rPr lang="vi-VN" sz="2000" dirty="0"/>
              <a:t>▪ Deposition and etching:Depositing materials on the wafer and removing the unwanted material.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1"/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bg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7630220" y="3480823"/>
            <a:ext cx="3758412" cy="2800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1" descr="Diagram of a transistor with a transistor line"/>
          <p:cNvPicPr preferRelativeResize="0"/>
          <p:nvPr/>
        </p:nvPicPr>
        <p:blipFill rotWithShape="1">
          <a:blip r:embed="rId4">
            <a:alphaModFix/>
            <a:duotone>
              <a:prstClr val="black"/>
              <a:schemeClr val="bg2">
                <a:tint val="45000"/>
                <a:satMod val="400000"/>
              </a:schemeClr>
            </a:duotone>
          </a:blip>
          <a:srcRect l="1406"/>
          <a:stretch>
            <a:fillRect/>
          </a:stretch>
        </p:blipFill>
        <p:spPr>
          <a:xfrm>
            <a:off x="7360467" y="1459506"/>
            <a:ext cx="4362238" cy="1955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485</Words>
  <Application>Microsoft Office PowerPoint</Application>
  <PresentationFormat>Widescreen</PresentationFormat>
  <Paragraphs>72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PowerPoint Presentation</vt:lpstr>
      <vt:lpstr>CMOS Fabrication Process(1/8)</vt:lpstr>
      <vt:lpstr>CMOS Fabrication Process(2/8)</vt:lpstr>
      <vt:lpstr>CMOS Fabrication Process(3/8)</vt:lpstr>
      <vt:lpstr>CMOS Fabrication Process(4/8)</vt:lpstr>
      <vt:lpstr>CMOS Fabrication Process(5/8)</vt:lpstr>
      <vt:lpstr>CMOS Fabrication Process(6/8)</vt:lpstr>
      <vt:lpstr>CMOS Fabrication Process(7/8)</vt:lpstr>
      <vt:lpstr>Summary: CMOS Fabrication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Trần Hoàng Minh</dc:creator>
  <cp:lastModifiedBy>Trần Hoàng Minh</cp:lastModifiedBy>
  <cp:revision>3</cp:revision>
  <dcterms:created xsi:type="dcterms:W3CDTF">2026-08-24T12:55:49Z</dcterms:created>
  <dcterms:modified xsi:type="dcterms:W3CDTF">2026-08-24T13:58:56Z</dcterms:modified>
</cp:coreProperties>
</file>